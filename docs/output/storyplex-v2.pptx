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D4A857"/>
                </a:solidFill>
                <a:latin typeface="Cormorant Garamond"/>
              </a:rPr>
              <a:t>STORYPLEX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400" b="0" i="0">
                <a:solidFill>
                  <a:srgbClr val="F3E7CF"/>
                </a:solidFill>
                <a:latin typeface="Cormorant Garamond"/>
              </a:rPr>
              <a:t>Storyplex — v2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0"/>
            <a:ext cx="219456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 i="1">
                <a:solidFill>
                  <a:srgbClr val="C4B08A"/>
                </a:solidFill>
                <a:latin typeface="Cormorant Garamond"/>
              </a:rPr>
              <a:t>Pre-compiled stories, in-house voices.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8C7A5B"/>
                </a:solidFill>
                <a:latin typeface="Inter"/>
              </a:rPr>
              <a:t>A snapshot of the recent architecture refactor.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Headline features in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Two things that change the whole shape of the product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5349240" cy="4114800"/>
          </a:xfrm>
          <a:prstGeom prst="roundRect">
            <a:avLst/>
          </a:prstGeom>
          <a:solidFill>
            <a:srgbClr val="1C160E"/>
          </a:solidFill>
          <a:ln w="6350">
            <a:solidFill>
              <a:srgbClr val="D4A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C4663A"/>
                </a:solidFill>
                <a:latin typeface="Inter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9377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 i="0">
                <a:solidFill>
                  <a:srgbClr val="EBC473"/>
                </a:solidFill>
                <a:latin typeface="Cormorant Garamond"/>
              </a:rPr>
              <a:t>Pre-compiled 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46120"/>
            <a:ext cx="128016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937760" cy="256032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World + all 10 beat dialogues + all 5 endings + every TTS line baked into the cache BEFORE the player starts.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Runtime is a deterministic DB lookup — &lt;100 ms per page.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No spinner between choices. No 'characters are responding' delay.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011680"/>
            <a:ext cx="5212080" cy="4114800"/>
          </a:xfrm>
          <a:prstGeom prst="roundRect">
            <a:avLst/>
          </a:prstGeom>
          <a:solidFill>
            <a:srgbClr val="1C160E"/>
          </a:solidFill>
          <a:ln w="6350">
            <a:solidFill>
              <a:srgbClr val="D4A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C4663A"/>
                </a:solidFill>
                <a:latin typeface="Inter"/>
              </a:rPr>
              <a:t>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4754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 i="0">
                <a:solidFill>
                  <a:srgbClr val="EBC473"/>
                </a:solidFill>
                <a:latin typeface="Cormorant Garamond"/>
              </a:rPr>
              <a:t>In-house TTS — Silk Mulberry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246120"/>
            <a:ext cx="128016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429000"/>
            <a:ext cx="4754880" cy="256032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Our own expressive English voice engine — built in-house.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WebSocket streaming: PCM arrives as it's synthesized.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Stable per-character description + per-line emotion delta — consistent identity across every 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The problem we set out to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Why the old runtime felt sluggish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0789920" cy="27432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Old runtime called Gemini Flash on every page advance.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2–4 statements per LLM call → 4–6 calls per beat → 5–8 s of wait.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Choice buttons hid behind a spinner.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TTS streamed on demand but spun up a fresh WS per 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937760"/>
            <a:ext cx="10789920" cy="1188720"/>
          </a:xfrm>
          <a:prstGeom prst="roundRect">
            <a:avLst/>
          </a:prstGeom>
          <a:solidFill>
            <a:srgbClr val="1C160E"/>
          </a:solidFill>
          <a:ln w="6350">
            <a:solidFill>
              <a:srgbClr val="D4A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16636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0" i="1">
                <a:solidFill>
                  <a:srgbClr val="EBC473"/>
                </a:solidFill>
                <a:latin typeface="Cormorant Garamond"/>
              </a:rPr>
              <a:t>“User don’t feel the wait and lag.”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Browser ↔ FastAPI ↔ Gemini · Mulberry · SQLite · disk</a:t>
            </a:r>
          </a:p>
        </p:txBody>
      </p:sp>
      <p:pic>
        <p:nvPicPr>
          <p:cNvPr id="7" name="Picture 6" descr="01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1691640"/>
            <a:ext cx="10972800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The shift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What pre-generation covers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84048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01168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01168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63952"/>
            <a:ext cx="10789920" cy="9144"/>
          </a:xfrm>
          <a:prstGeom prst="rect">
            <a:avLst/>
          </a:prstGeom>
          <a:solidFill>
            <a:srgbClr val="574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82240"/>
            <a:ext cx="384048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Story spine + endings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8224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pre-gen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68224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pre-gen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52800"/>
            <a:ext cx="384048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Per-beat dialogue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35280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live LLM per 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35280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pre-gen ✓ + cached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60"/>
            <a:ext cx="384048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Ending dialogue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02336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live LLM at beat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402336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pre-gen ✓ + cached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693920"/>
            <a:ext cx="384048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Voice audio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69392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streamed per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69392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pre-gen ✓ + cached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364480"/>
            <a:ext cx="384048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Per-page advance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536448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1–1.5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5364480"/>
            <a:ext cx="3474720" cy="670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&lt;100 ms DB lookup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1">
                <a:solidFill>
                  <a:srgbClr val="C4B08A"/>
                </a:solidFill>
                <a:latin typeface="Cormorant Garamond"/>
              </a:rPr>
              <a:t>Free-input is the only thing that still calls Gemini at runtime.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Story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Spine + branching beats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0789920" cy="27432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10 beats in a fixed spine.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3 pre-baked choices per beat, each tagged (alignmentTag + magnitude).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5 candidate endings keyed by tag.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Choices don’t change beat content; they nudge alignment_state.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The ending with the highest score fires at beat 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107899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0" i="1">
                <a:solidFill>
                  <a:srgbClr val="EBC473"/>
                </a:solidFill>
                <a:latin typeface="Cormorant Garamond"/>
              </a:rPr>
              <a:t>Linear in content. Branching in destination.</a:t>
            </a:r>
          </a:p>
          <a:p>
            <a:pPr algn="l"/>
            <a:r>
              <a:rPr sz="600" b="0" i="0">
                <a:latin typeface="Inter"/>
              </a:rPr>
              <a:t/>
            </a:r>
          </a:p>
          <a:p>
            <a:pPr algn="l"/>
            <a:r>
              <a:rPr sz="1400" b="0" i="0">
                <a:solidFill>
                  <a:srgbClr val="C4B08A"/>
                </a:solidFill>
                <a:latin typeface="Inter"/>
              </a:rPr>
              <a:t>Most players see the same dialogue. Their choices route them to one of 5 distinct epilogues.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Story spine —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10 beats, 3 choices each, 5 candidate endings</a:t>
            </a:r>
          </a:p>
        </p:txBody>
      </p:sp>
      <p:pic>
        <p:nvPicPr>
          <p:cNvPr id="7" name="Picture 6" descr="03-spin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1691640"/>
            <a:ext cx="10972800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Spine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How beats connect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10789920" cy="3200400"/>
          </a:xfrm>
          <a:prstGeom prst="roundRect">
            <a:avLst/>
          </a:prstGeom>
          <a:solidFill>
            <a:srgbClr val="18140E"/>
          </a:solidFill>
          <a:ln w="5080">
            <a:solidFill>
              <a:srgbClr val="574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opening ──► beat 0 ──┬─► beat 1 ──┬─► beat 2 ──► ... ──► beat 9 ──► ending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         │            │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      choice        choice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  (3 options,    (3 options,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   each tagged)    each tagged)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alignment_state at beat 9 picks 1 of 5 cached endings.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10789920" cy="118872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D4A857"/>
                </a:solidFill>
                <a:latin typeface="Inter"/>
              </a:rPr>
              <a:t>•  </a:t>
            </a:r>
            <a:r>
              <a:rPr sz="1400">
                <a:solidFill>
                  <a:srgbClr val="F3E7CF"/>
                </a:solidFill>
                <a:latin typeface="Inter"/>
              </a:rPr>
              <a:t>Every choice routes to the SAME next beat — only the ending changes.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D4A857"/>
                </a:solidFill>
                <a:latin typeface="Inter"/>
              </a:rPr>
              <a:t>•  </a:t>
            </a:r>
            <a:r>
              <a:rPr sz="1400">
                <a:solidFill>
                  <a:srgbClr val="F3E7CF"/>
                </a:solidFill>
                <a:latin typeface="Inter"/>
              </a:rPr>
              <a:t>_ensure_scene_change + _ensure_cast keep the stage clean across beats.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Generation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Parallel everywhere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2801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011680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What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011680"/>
            <a:ext cx="182880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8157"/>
            <a:ext cx="10789920" cy="9144"/>
          </a:xfrm>
          <a:prstGeom prst="rect">
            <a:avLst/>
          </a:prstGeom>
          <a:solidFill>
            <a:srgbClr val="574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86445"/>
            <a:ext cx="12801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586445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World + spine + endings (Pro 2.5)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2586445"/>
            <a:ext cx="182880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45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61211"/>
            <a:ext cx="12801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161211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Character neutrals in parallel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3161211"/>
            <a:ext cx="182880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12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35977"/>
            <a:ext cx="12801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735977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9 emotions × N chars + N scenes pooled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3735977"/>
            <a:ext cx="182880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~100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10742"/>
            <a:ext cx="12801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310742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Overlays ││ 8 beat dialogues (Flash)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4310742"/>
            <a:ext cx="182880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~50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85508"/>
            <a:ext cx="12801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885508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Script + voices + 5 endings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4885508"/>
            <a:ext cx="182880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~15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60274"/>
            <a:ext cx="12801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460274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TTS pre-render of every line (8 workers)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460274"/>
            <a:ext cx="182880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~1.5–2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1">
                <a:solidFill>
                  <a:srgbClr val="EBC473"/>
                </a:solidFill>
                <a:latin typeface="Cormorant Garamond"/>
              </a:rPr>
              <a:t>Total: ~3.5–5 min. After that — zero waits during play.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Generation pipeline — visual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6 phases. Most run in parallel.</a:t>
            </a:r>
          </a:p>
        </p:txBody>
      </p:sp>
      <p:pic>
        <p:nvPicPr>
          <p:cNvPr id="7" name="Picture 6" descr="02-pipeline-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1691640"/>
            <a:ext cx="10972800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Caches we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What lands in the DB + disk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108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011680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Holds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68157"/>
            <a:ext cx="10789920" cy="9144"/>
          </a:xfrm>
          <a:prstGeom prst="rect">
            <a:avLst/>
          </a:prstGeom>
          <a:solidFill>
            <a:srgbClr val="574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86445"/>
            <a:ext cx="3108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sessions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586445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spine, endings, alignment, chosen ending, chapter linkage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61211"/>
            <a:ext cx="3108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characters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161211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personality, voice_caption, gender (new)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35977"/>
            <a:ext cx="3108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beat_expansions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735977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ALL 10 beats' statements (pre-rendered)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10742"/>
            <a:ext cx="3108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ending_dialogue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310742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ALL 5 endings' statements (pre-rendered)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85508"/>
            <a:ext cx="3108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script_labels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885508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flat statements per 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60274"/>
            <a:ext cx="3108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5460274"/>
            <a:ext cx="7680960" cy="57476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Ren'Py-style checkpoints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B08A"/>
                </a:solidFill>
                <a:latin typeface="Inter"/>
              </a:rPr>
              <a:t>Plus on-disk: sprites, backgrounds, overlays, &lt;sha1&gt;.wav audio.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Runtime — per page click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What happens in &lt;100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10789920" cy="4023360"/>
          </a:xfrm>
          <a:prstGeom prst="roundRect">
            <a:avLst/>
          </a:prstGeom>
          <a:solidFill>
            <a:srgbClr val="18140E"/>
          </a:solidFill>
          <a:ln w="5080">
            <a:solidFill>
              <a:srgbClr val="574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client ──► /choice {alignmentTag, magnitude}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│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▼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process_player_action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│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├── apply alignment to alignment_state[ending_id]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├── target_beat = beat_index + 1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├── LOOKUP beat_expansions  ◄─── cache hit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├── _ensure_scene_change(canonical sceneId)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├── _ensure_cast(hide non-cast chars)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└── append beat's pre-baked choices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         ▼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3E7CF"/>
                </a:solidFill>
                <a:latin typeface="JetBrains Mono"/>
              </a:rPr>
              <a:t>   200 OK in &lt;100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Runtime cache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Choice click → DB lookup → 200 OK in &lt;100 ms</a:t>
            </a:r>
          </a:p>
        </p:txBody>
      </p:sp>
      <p:pic>
        <p:nvPicPr>
          <p:cNvPr id="7" name="Picture 6" descr="04-runtime-cach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1691640"/>
            <a:ext cx="10972800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TTS — WebSocket all the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Stream from disk if cached, from Mulberry if 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0789920" cy="36576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Client opens WS to /api/sessions/{sid}/tts/stream.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Server checks the on-disk WAV cache.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Cache hit: streams PCM payload in 100 ms chunks.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Cache miss: opens upstream Mulberry WS, forwards each PCM frame as it arrives, writes WAV at end.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Client decodes int16 LE @ 24 kHz, schedules each BufferSource on the first chunk.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AnalyserNode drives amplitude-based lip-sync.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Silk Mulberry — our in-house TTS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Built in-house, streamed over WebSocket, voiced per character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5394960" cy="4114800"/>
          </a:xfrm>
          <a:prstGeom prst="roundRect">
            <a:avLst/>
          </a:prstGeom>
          <a:solidFill>
            <a:srgbClr val="1C160E"/>
          </a:solidFill>
          <a:ln w="6350">
            <a:solidFill>
              <a:srgbClr val="D4A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 i="1">
                <a:solidFill>
                  <a:srgbClr val="EBC473"/>
                </a:solidFill>
                <a:latin typeface="Cormorant Garamond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97480"/>
            <a:ext cx="109728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5029200" cy="310896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Custom expressive English voice model — built in-house.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POST /v1/tts/ws-connect mints a one-shot WS session.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Server forwards each PCM frame to the browser AS IT ARRIVES.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First-byte latency: &lt;500 ms after the click.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03520" cy="4114800"/>
          </a:xfrm>
          <a:prstGeom prst="roundRect">
            <a:avLst/>
          </a:prstGeom>
          <a:solidFill>
            <a:srgbClr val="1C160E"/>
          </a:solidFill>
          <a:ln w="6350">
            <a:solidFill>
              <a:srgbClr val="D4A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 i="1">
                <a:solidFill>
                  <a:srgbClr val="EBC473"/>
                </a:solidFill>
                <a:latin typeface="Cormorant Garamond"/>
              </a:rPr>
              <a:t>How a voice is built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697480"/>
            <a:ext cx="109728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4937760" cy="310896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EBC473"/>
                </a:solidFill>
                <a:latin typeface="Inter"/>
              </a:rPr>
              <a:t>base  </a:t>
            </a:r>
            <a:r>
              <a:rPr sz="1300">
                <a:solidFill>
                  <a:srgbClr val="F3E7CF"/>
                </a:solidFill>
                <a:latin typeface="Inter"/>
              </a:rPr>
              <a:t>per-character voice_caption (stable across every line)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EBC473"/>
                </a:solidFill>
                <a:latin typeface="Inter"/>
              </a:rPr>
              <a:t>+ delta  </a:t>
            </a:r>
            <a:r>
              <a:rPr sz="1300">
                <a:solidFill>
                  <a:srgbClr val="F3E7CF"/>
                </a:solidFill>
                <a:latin typeface="Inter"/>
              </a:rPr>
              <a:t>per-line emotion/pacing hint from the expression tag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EBC473"/>
                </a:solidFill>
                <a:latin typeface="Inter"/>
              </a:rPr>
              <a:t>speaker  </a:t>
            </a:r>
            <a:r>
              <a:rPr sz="1300">
                <a:solidFill>
                  <a:srgbClr val="F3E7CF"/>
                </a:solidFill>
                <a:latin typeface="Inter"/>
              </a:rPr>
              <a:t>speaker_1 preset for females; description-driven for males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EBC473"/>
                </a:solidFill>
                <a:latin typeface="Inter"/>
              </a:rPr>
              <a:t>pitch  </a:t>
            </a:r>
            <a:r>
              <a:rPr sz="1300">
                <a:solidFill>
                  <a:srgbClr val="F3E7CF"/>
                </a:solidFill>
                <a:latin typeface="Inter"/>
              </a:rPr>
              <a:t>f0_up_key shifted by age + gender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Silk Mulberry — WebSocket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Cache-first, live-stream on miss, write WAV on done</a:t>
            </a:r>
          </a:p>
        </p:txBody>
      </p:sp>
      <p:pic>
        <p:nvPicPr>
          <p:cNvPr id="7" name="Picture 6" descr="05-tts-webs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1691640"/>
            <a:ext cx="10972800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Voice profiles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Stable identity + per-line delta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10789920" cy="1828800"/>
          </a:xfrm>
          <a:prstGeom prst="roundRect">
            <a:avLst/>
          </a:prstGeom>
          <a:solidFill>
            <a:srgbClr val="1C160E"/>
          </a:solidFill>
          <a:ln w="6350">
            <a:solidFill>
              <a:srgbClr val="D4A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EBC473"/>
                </a:solidFill>
                <a:latin typeface="Inter"/>
              </a:rPr>
              <a:t>Per-character default — set ONCE from voice_caption: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F3E7CF"/>
                </a:solidFill>
                <a:latin typeface="Cormorant Garamond"/>
              </a:rPr>
              <a:t>“A teenage girl with a clear, mid-range voice that is often sharp and clipped, but can soften with vulnerability.”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EBC473"/>
                </a:solidFill>
                <a:latin typeface="Inter"/>
              </a:rPr>
              <a:t>Per-line delta — only the delivery hint changes: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26280"/>
            <a:ext cx="2286000" cy="457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expression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4526280"/>
            <a:ext cx="8503920" cy="457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appended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965192"/>
            <a:ext cx="10789920" cy="9144"/>
          </a:xfrm>
          <a:prstGeom prst="rect">
            <a:avLst/>
          </a:prstGeom>
          <a:solidFill>
            <a:srgbClr val="574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983480"/>
            <a:ext cx="2286000" cy="457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happy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4983480"/>
            <a:ext cx="8503920" cy="457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Speak cheerfully and a bit quickly, with a smile in the voice.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40680"/>
            <a:ext cx="2286000" cy="457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5440680"/>
            <a:ext cx="8503920" cy="457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Speak softly and slowly, with a downcast tone.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97880"/>
            <a:ext cx="2286000" cy="457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angry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5897880"/>
            <a:ext cx="8503920" cy="457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Speak sharply and with bite, faster paced.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Voice routing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Explicit gender drives the speaker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0789920" cy="27432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EBC473"/>
                </a:solidFill>
                <a:latin typeface="Inter"/>
              </a:rPr>
              <a:t>gender = female  </a:t>
            </a:r>
            <a:r>
              <a:rPr sz="1700">
                <a:solidFill>
                  <a:srgbClr val="F3E7CF"/>
                </a:solidFill>
                <a:latin typeface="Inter"/>
              </a:rPr>
              <a:t>speaker_1 preset + age-based pitch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EBC473"/>
                </a:solidFill>
                <a:latin typeface="Inter"/>
              </a:rPr>
              <a:t>gender = male / neutral  </a:t>
            </a:r>
            <a:r>
              <a:rPr sz="1700">
                <a:solidFill>
                  <a:srgbClr val="F3E7CF"/>
                </a:solidFill>
                <a:latin typeface="Inter"/>
              </a:rPr>
              <a:t>description-driven, no preset, deeper pitch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EBC473"/>
                </a:solidFill>
                <a:latin typeface="Inter"/>
              </a:rPr>
              <a:t>narrator  </a:t>
            </a:r>
            <a:r>
              <a:rPr sz="1700">
                <a:solidFill>
                  <a:srgbClr val="F3E7CF"/>
                </a:solidFill>
                <a:latin typeface="Inter"/>
              </a:rPr>
              <a:t>description-driven, f0_up_key = 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29200"/>
            <a:ext cx="107899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F3E7CF"/>
                </a:solidFill>
                <a:latin typeface="Inter"/>
              </a:rPr>
              <a:t>gender is now an EXPLICIT field on every character (set by the world prompt).</a:t>
            </a:r>
          </a:p>
          <a:p>
            <a:pPr algn="l"/>
            <a:r>
              <a:rPr sz="1400" b="0" i="0">
                <a:solidFill>
                  <a:srgbClr val="C4B08A"/>
                </a:solidFill>
                <a:latin typeface="Inter"/>
              </a:rPr>
              <a:t>Legacy sessions fall back to keyword detection over voice_caption.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Stage guards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Two server-side passes per cache hit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5212080" cy="4114800"/>
          </a:xfrm>
          <a:prstGeom prst="roundRect">
            <a:avLst/>
          </a:prstGeom>
          <a:solidFill>
            <a:srgbClr val="1C160E"/>
          </a:solidFill>
          <a:ln w="6350">
            <a:solidFill>
              <a:srgbClr val="D4A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 i="1">
                <a:solidFill>
                  <a:srgbClr val="EBC473"/>
                </a:solidFill>
                <a:latin typeface="Cormorant Garamond"/>
              </a:rPr>
              <a:t>_ensure_scene_change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846320" cy="32004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Replace lead scene_change with the spine's canonical sceneId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or prepend one if missing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fixes 'background went black after a choice'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(LLM hallucinated a sceneId that didn't exist on disk)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2011680"/>
            <a:ext cx="5394960" cy="4114800"/>
          </a:xfrm>
          <a:prstGeom prst="roundRect">
            <a:avLst/>
          </a:prstGeom>
          <a:solidFill>
            <a:srgbClr val="1C160E"/>
          </a:solidFill>
          <a:ln w="6350">
            <a:solidFill>
              <a:srgbClr val="D4A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 i="1">
                <a:solidFill>
                  <a:srgbClr val="EBC473"/>
                </a:solidFill>
                <a:latin typeface="Cormorant Garamond"/>
              </a:rPr>
              <a:t>_ensure_cast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029200" cy="32004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Prepend hide_character for every char NOT in beat.castIds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Inserted after the scene_change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stops prior-beat sprites from lingering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4A857"/>
                </a:solidFill>
                <a:latin typeface="Inter"/>
              </a:rPr>
              <a:t>•  </a:t>
            </a:r>
            <a:r>
              <a:rPr sz="1300">
                <a:solidFill>
                  <a:srgbClr val="F3E7CF"/>
                </a:solidFill>
                <a:latin typeface="Inter"/>
              </a:rPr>
              <a:t>safe to over-hide — client no-ops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Save / Load / Restart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Ren'Py-style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1">
                <a:solidFill>
                  <a:srgbClr val="C4B08A"/>
                </a:solidFill>
                <a:latin typeface="Cormorant Garamond"/>
              </a:rPr>
              <a:t>Triggered by Esc key or the ☰ Menu button.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8288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377440"/>
            <a:ext cx="896112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73552"/>
            <a:ext cx="10789920" cy="9144"/>
          </a:xfrm>
          <a:prstGeom prst="rect">
            <a:avLst/>
          </a:prstGeom>
          <a:solidFill>
            <a:srgbClr val="574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291840"/>
            <a:ext cx="18288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291840"/>
            <a:ext cx="896112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Snapshot {label, statementIndex, sceneId, beat, alignment, ending, visibleChars} to saves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18288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206240"/>
            <a:ext cx="896112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Rebuild the scene, mount each char, jump label +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20640"/>
            <a:ext cx="18288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Restart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120640"/>
            <a:ext cx="896112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Reset alignment + beat. Drop runtime labels. KEEP beat &amp; ending caches so replay is instant.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Continue to next chapter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Spawn a child session linked to the parent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10789920" cy="3291840"/>
          </a:xfrm>
          <a:prstGeom prst="roundRect">
            <a:avLst/>
          </a:prstGeom>
          <a:solidFill>
            <a:srgbClr val="18140E"/>
          </a:solidFill>
          <a:ln w="5080">
            <a:solidFill>
              <a:srgbClr val="574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>
                <a:solidFill>
                  <a:srgbClr val="F3E7CF"/>
                </a:solidFill>
                <a:latin typeface="JetBrains Mono"/>
              </a:rPr>
              <a:t>Chapter 1  ────► chosen_ending_id = "noble_sacrifice"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F3E7CF"/>
                </a:solidFill>
                <a:latin typeface="JetBrains Mono"/>
              </a:rPr>
              <a:t>                                  │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F3E7CF"/>
                </a:solidFill>
                <a:latin typeface="JetBrains Mono"/>
              </a:rPr>
              <a:t>                                  ▼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F3E7CF"/>
                </a:solidFill>
                <a:latin typeface="JetBrains Mono"/>
              </a:rPr>
              <a:t>Chapter 2  (new session)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F3E7CF"/>
                </a:solidFill>
                <a:latin typeface="JetBrains Mono"/>
              </a:rPr>
              <a:t>    parent_session_id ─►  Chapter 1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F3E7CF"/>
                </a:solidFill>
                <a:latin typeface="JetBrains Mono"/>
              </a:rPr>
              <a:t>    chapter_number      = 2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F3E7CF"/>
                </a:solidFill>
                <a:latin typeface="JetBrains Mono"/>
              </a:rPr>
              <a:t>    world + cast        = inherited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F3E7CF"/>
                </a:solidFill>
                <a:latin typeface="JetBrains Mono"/>
              </a:rPr>
              <a:t>    spine + endings     = NEW (continues from Ch1's ending)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486400"/>
            <a:ext cx="10789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F3E7CF"/>
                </a:solidFill>
                <a:latin typeface="Inter"/>
              </a:rPr>
              <a:t>build_continuation_prompt forces re-use of character ids and picks up after the parent's chosen ending.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Chapter continuation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Child session inherits world + cast; gets new spine + endings</a:t>
            </a:r>
          </a:p>
        </p:txBody>
      </p:sp>
      <p:pic>
        <p:nvPicPr>
          <p:cNvPr id="7" name="Picture 6" descr="06-chapter-contin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1691640"/>
            <a:ext cx="10972800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UI revamp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Cinematic VN — candlelit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0789920" cy="41148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Candlelit amber palette — gold accent on near-black.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Cormorant Garamond display serif + Inter body.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Film grain + soft vignette overlay.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Glass-card aesthetic with gold rule dividers.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Per-view refresh: landing, setup wizard, sessions, loading, pause menu.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D4A857"/>
                </a:solidFill>
                <a:latin typeface="Inter"/>
              </a:rPr>
              <a:t>•  </a:t>
            </a:r>
            <a:r>
              <a:rPr sz="1500">
                <a:solidFill>
                  <a:srgbClr val="F3E7CF"/>
                </a:solidFill>
                <a:latin typeface="Inter"/>
              </a:rPr>
              <a:t>Dialogue box gets a soft gold gradient top edge; choice buttons get a gold left bar on hover.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0" i="0">
                <a:solidFill>
                  <a:srgbClr val="F3E7CF"/>
                </a:solidFill>
                <a:latin typeface="Cormorant Garamond"/>
              </a:rPr>
              <a:t>Deployment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82880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EBC473"/>
                </a:solidFill>
                <a:latin typeface="Cormorant Garamond"/>
              </a:rPr>
              <a:t>Split hosting: Netlify + Render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47472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011680"/>
            <a:ext cx="32004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Host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011680"/>
            <a:ext cx="41148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 b="1">
                <a:solidFill>
                  <a:srgbClr val="EBC473"/>
                </a:solidFill>
                <a:latin typeface="Inter"/>
              </a:rPr>
              <a:t>Why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07792"/>
            <a:ext cx="10789920" cy="9144"/>
          </a:xfrm>
          <a:prstGeom prst="rect">
            <a:avLst/>
          </a:prstGeom>
          <a:solidFill>
            <a:srgbClr val="574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347472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Frontend (SPA)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926080"/>
            <a:ext cx="32004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Netlify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926080"/>
            <a:ext cx="41148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static, free, perfect for Vite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347472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Backend (FastAPI + WS)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840480"/>
            <a:ext cx="32004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Render / Fly / Railway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840480"/>
            <a:ext cx="41148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400">
                <a:solidFill>
                  <a:srgbClr val="F3E7CF"/>
                </a:solidFill>
                <a:latin typeface="Inter"/>
              </a:rPr>
              <a:t>persistent disk, WS support, long-running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37760"/>
            <a:ext cx="10789920" cy="18288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D4A857"/>
                </a:solidFill>
                <a:latin typeface="Inter"/>
              </a:rPr>
              <a:t>•  </a:t>
            </a:r>
            <a:r>
              <a:rPr sz="1400">
                <a:solidFill>
                  <a:srgbClr val="F3E7CF"/>
                </a:solidFill>
                <a:latin typeface="Inter"/>
              </a:rPr>
              <a:t>Netlify Functions can't host the backend: no persistent WS, no persistent disk, hard execution caps.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D4A857"/>
                </a:solidFill>
                <a:latin typeface="Inter"/>
              </a:rPr>
              <a:t>•  </a:t>
            </a:r>
            <a:r>
              <a:rPr sz="1400">
                <a:solidFill>
                  <a:srgbClr val="F3E7CF"/>
                </a:solidFill>
                <a:latin typeface="Inter"/>
              </a:rPr>
              <a:t>Render Starter ($7/mo) with persistent disk handles SQLite + the data/generated/ tree.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D4A857"/>
                </a:solidFill>
                <a:latin typeface="Inter"/>
              </a:rPr>
              <a:t>•  </a:t>
            </a:r>
            <a:r>
              <a:rPr sz="1400">
                <a:solidFill>
                  <a:srgbClr val="F3E7CF"/>
                </a:solidFill>
                <a:latin typeface="Inter"/>
              </a:rPr>
              <a:t>Single-user / dev usage: under $10/mo for hosting. Gemini calls dominate variable cost.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828800" y="-2743200"/>
            <a:ext cx="15544800" cy="6400800"/>
          </a:xfrm>
          <a:prstGeom prst="ellipse">
            <a:avLst/>
          </a:prstGeom>
          <a:solidFill>
            <a:srgbClr val="1C12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D4A857"/>
                </a:solidFill>
                <a:latin typeface="Cormorant Garamon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200" b="0" i="0">
                <a:solidFill>
                  <a:srgbClr val="F3E7CF"/>
                </a:solidFill>
                <a:latin typeface="Cormorant Garamond"/>
              </a:rPr>
              <a:t>What’s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572000"/>
            <a:ext cx="2194560" cy="18288"/>
          </a:xfrm>
          <a:prstGeom prst="rect">
            <a:avLst/>
          </a:prstGeom>
          <a:solidFill>
            <a:srgbClr val="D4A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10789920" cy="182880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Deploy frontend to Netlify.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Deploy backend to Render with persistent disk.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Wire env vars + production CORS.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D4A857"/>
                </a:solidFill>
                <a:latin typeface="Inter"/>
              </a:rPr>
              <a:t>•  </a:t>
            </a:r>
            <a:r>
              <a:rPr sz="1700">
                <a:solidFill>
                  <a:srgbClr val="F3E7CF"/>
                </a:solidFill>
                <a:latin typeface="Inter"/>
              </a:rPr>
              <a:t>Smoke-test fresh-session → play → save → continue.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C7A5B"/>
                </a:solidFill>
                <a:latin typeface="JetBrains Mono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