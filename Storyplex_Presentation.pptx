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EA1716D-A47D-4F9C-9981-9D6FCAFD7E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1CC52A6-08CF-49DB-89EE-4264251F78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132E71-9759-47DF-B58C-8B36C0AB52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1D37EC-49F2-467C-A779-B4AB04F0AC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3B403F-AAE2-4B37-B97D-62B114913A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D0C8CC-1A13-4F28-BD3F-F6C49313F2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B89256-8904-407D-9FEC-33882B1652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983D07-B874-424B-BE4E-567BB1223B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C2FE51-5897-4DE4-82AD-52F98AC1D1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74D542-5BF5-4287-AE68-4DDF0F474B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076AAA-1BA6-4ABB-995C-62664DE2CF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BFB331-E90E-454F-9DB4-E6E0E1F2F9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F16B2E-A590-4466-BE08-540F4571BC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371600" y="1645920"/>
            <a:ext cx="91436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a78bfa"/>
                </a:solidFill>
                <a:latin typeface="Segoe UI"/>
              </a:rPr>
              <a:t>STORYPLEX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828800" y="2743200"/>
            <a:ext cx="8229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Segoe UI"/>
              </a:rPr>
              <a:t>AI-Powered Visual Novel Engine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286000" y="3566160"/>
            <a:ext cx="7314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a0a0b0"/>
                </a:solidFill>
                <a:latin typeface="Segoe UI"/>
              </a:rPr>
              <a:t>Create unique visual novels with AI-generated stories, characters, and artwork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5029200" y="4572000"/>
            <a:ext cx="2102760" cy="36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2743200" y="5029200"/>
            <a:ext cx="64004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a0a0b0"/>
                </a:solidFill>
                <a:latin typeface="Segoe UI"/>
              </a:rPr>
              <a:t>HawksLab  |  2026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31520" y="365760"/>
            <a:ext cx="5486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Problem &amp; Solution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ounded Rectangle 3"/>
          <p:cNvSpPr/>
          <p:nvPr/>
        </p:nvSpPr>
        <p:spPr>
          <a:xfrm>
            <a:off x="731520" y="1371600"/>
            <a:ext cx="502884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1097280" y="1463040"/>
            <a:ext cx="4388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b923c"/>
                </a:solidFill>
                <a:latin typeface="Segoe UI"/>
              </a:rPr>
              <a:t>THE PROBLEM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097280" y="2103120"/>
            <a:ext cx="4388760" cy="32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fb923c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Creating visual novels requires writing, art, and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programming skills — a rare combination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b923c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Professional artwork &amp; character sprites are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expensive and time-consuming to produce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b923c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Traditional VN engines need extensive manual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scripting with little room for dynamic content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b923c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Players experience the same fixed story paths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with no real agency or surprise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6400800" y="1371600"/>
            <a:ext cx="502884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8"/>
          <p:cNvSpPr/>
          <p:nvPr/>
        </p:nvSpPr>
        <p:spPr>
          <a:xfrm>
            <a:off x="6400800" y="1554480"/>
            <a:ext cx="54360" cy="456840"/>
          </a:xfrm>
          <a:prstGeom prst="rect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766560" y="1463040"/>
            <a:ext cx="4388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4ade80"/>
                </a:solidFill>
                <a:latin typeface="Segoe UI"/>
              </a:rPr>
              <a:t>OUR SOLUTION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6766560" y="2103120"/>
            <a:ext cx="4388760" cy="25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AI generates complete stories, characters,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and world lore from a simple user prompt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Character sprites &amp; backgrounds are created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automatically with consistent art styles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Dynamic scripting engine builds interactive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scenes with branching dialogue on the fly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Players can type free-form actions — the AI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a0a0b0"/>
                </a:solidFill>
                <a:latin typeface="Segoe UI"/>
              </a:rPr>
              <a:t>adapts the story in real time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11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2300400" y="11520"/>
            <a:ext cx="76068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731520" y="365760"/>
            <a:ext cx="7314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System Architecture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731520" y="1371600"/>
            <a:ext cx="329148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097280" y="1463040"/>
            <a:ext cx="27428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Segoe UI"/>
              </a:rPr>
              <a:t>CLIENT  (Vite SPA)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1097280" y="2103120"/>
            <a:ext cx="2651400" cy="24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Custom SPA Router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Setup Wizard (7 fields)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Game Bridge Engine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Typewriter Dialogue System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Choice &amp; Free-Input UI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Real-time SSE Progress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Dark Theme Design System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4389120" y="1371600"/>
            <a:ext cx="347436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8"/>
          <p:cNvSpPr/>
          <p:nvPr/>
        </p:nvSpPr>
        <p:spPr>
          <a:xfrm>
            <a:off x="4389120" y="1554480"/>
            <a:ext cx="54360" cy="456840"/>
          </a:xfrm>
          <a:prstGeom prst="rect">
            <a:avLst/>
          </a:prstGeom>
          <a:solidFill>
            <a:srgbClr val="a78b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4754880" y="1463040"/>
            <a:ext cx="2925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a78bfa"/>
                </a:solidFill>
                <a:latin typeface="Segoe UI"/>
              </a:rPr>
              <a:t>SERVER  (Express.js)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4754880" y="2103120"/>
            <a:ext cx="274284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RESTful API Routes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Session Management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Generation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Script Builder Service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Asset Manager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Background Remover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SQLite Database (sql.js)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ounded Rectangle 11"/>
          <p:cNvSpPr/>
          <p:nvPr/>
        </p:nvSpPr>
        <p:spPr>
          <a:xfrm>
            <a:off x="8229600" y="1371600"/>
            <a:ext cx="329148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12"/>
          <p:cNvSpPr/>
          <p:nvPr/>
        </p:nvSpPr>
        <p:spPr>
          <a:xfrm>
            <a:off x="8229600" y="1554480"/>
            <a:ext cx="54360" cy="456840"/>
          </a:xfrm>
          <a:prstGeom prst="rect">
            <a:avLst/>
          </a:prstGeom>
          <a:solidFill>
            <a:srgbClr val="f472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8595360" y="1463040"/>
            <a:ext cx="27428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472b6"/>
                </a:solidFill>
                <a:latin typeface="Segoe UI"/>
              </a:rPr>
              <a:t>AI ENGINE  (Gemini)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8595360" y="2103120"/>
            <a:ext cx="2651400" cy="24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Gemini 2.5 Pro — Story Gen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Gemini 2.5 Flash — Dialogue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Gemini Flash — Image Gen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World Building Prompts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Character Sprite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Background Scene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Dynamic Choice Generation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15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731520" y="365760"/>
            <a:ext cx="5486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Tech Stack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73152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09728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Segoe UI"/>
              </a:rPr>
              <a:t>FRONTEND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1097280" y="2194560"/>
            <a:ext cx="2011320" cy="19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Vite — Fast build &amp; dev server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Vanilla JS — Custom SPA, no framework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CSS — Dark theme design system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Monogatari for Visual Novel Engine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356616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8"/>
          <p:cNvSpPr/>
          <p:nvPr/>
        </p:nvSpPr>
        <p:spPr>
          <a:xfrm>
            <a:off x="3566160" y="1554480"/>
            <a:ext cx="54360" cy="456840"/>
          </a:xfrm>
          <a:prstGeom prst="rect">
            <a:avLst/>
          </a:prstGeom>
          <a:solidFill>
            <a:srgbClr val="a78b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393192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a78bfa"/>
                </a:solidFill>
                <a:latin typeface="Segoe UI"/>
              </a:rPr>
              <a:t>BACKEND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3931920" y="2194560"/>
            <a:ext cx="2011320" cy="14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Node.js — ES Modules runtime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Express.js — RESTful API server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78b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sql.js — SQLite compiled to WASM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ounded Rectangle 11"/>
          <p:cNvSpPr/>
          <p:nvPr/>
        </p:nvSpPr>
        <p:spPr>
          <a:xfrm>
            <a:off x="640080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12"/>
          <p:cNvSpPr/>
          <p:nvPr/>
        </p:nvSpPr>
        <p:spPr>
          <a:xfrm>
            <a:off x="6400800" y="1554480"/>
            <a:ext cx="54360" cy="456840"/>
          </a:xfrm>
          <a:prstGeom prst="rect">
            <a:avLst/>
          </a:prstGeom>
          <a:solidFill>
            <a:srgbClr val="f472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676656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472b6"/>
                </a:solidFill>
                <a:latin typeface="Segoe UI"/>
              </a:rPr>
              <a:t>AI / ML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6766560" y="2194560"/>
            <a:ext cx="2011320" cy="14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Google Gemini 3 Pro — Story generation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Gemini 2.5 Flash — Real-time dialogue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Gemini Flash Image — Sprite &amp; BG gen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ounded Rectangle 15"/>
          <p:cNvSpPr/>
          <p:nvPr/>
        </p:nvSpPr>
        <p:spPr>
          <a:xfrm>
            <a:off x="923544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ectangle 16"/>
          <p:cNvSpPr/>
          <p:nvPr/>
        </p:nvSpPr>
        <p:spPr>
          <a:xfrm>
            <a:off x="9235440" y="1554480"/>
            <a:ext cx="54360" cy="456840"/>
          </a:xfrm>
          <a:prstGeom prst="rect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960120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Segoe UI"/>
              </a:rPr>
              <a:t>TOOLING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9601200" y="2194560"/>
            <a:ext cx="201132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Sharp — Image processing &amp; resizing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@imgly/background-removal — Sprite cutout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SSE — Real-time generation progress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 19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731520" y="365760"/>
            <a:ext cx="7314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Content Generation Pipeline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ounded Rectangle 3"/>
          <p:cNvSpPr/>
          <p:nvPr/>
        </p:nvSpPr>
        <p:spPr>
          <a:xfrm>
            <a:off x="457200" y="1371600"/>
            <a:ext cx="201132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Oval 4"/>
          <p:cNvSpPr/>
          <p:nvPr/>
        </p:nvSpPr>
        <p:spPr>
          <a:xfrm>
            <a:off x="1188720" y="1645920"/>
            <a:ext cx="548280" cy="548280"/>
          </a:xfrm>
          <a:prstGeom prst="ellipse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0f1a"/>
                </a:solidFill>
                <a:latin typeface="Segoe UI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594360" y="2377440"/>
            <a:ext cx="17370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60a5fa"/>
                </a:solidFill>
                <a:latin typeface="Segoe UI"/>
              </a:rPr>
              <a:t>Story &amp; World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6"/>
          <p:cNvSpPr/>
          <p:nvPr/>
        </p:nvSpPr>
        <p:spPr>
          <a:xfrm>
            <a:off x="594360" y="2834640"/>
            <a:ext cx="173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Progress: 5%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640080" y="3291840"/>
            <a:ext cx="1645560" cy="10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AI generates world lore,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characters, plot arcs,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and opening script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2514600" y="1828800"/>
            <a:ext cx="273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a78bfa"/>
                </a:solidFill>
                <a:latin typeface="Segoe UI"/>
              </a:rPr>
              <a:t>▶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9"/>
          <p:cNvSpPr/>
          <p:nvPr/>
        </p:nvSpPr>
        <p:spPr>
          <a:xfrm>
            <a:off x="2743200" y="1371600"/>
            <a:ext cx="201132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Oval 10"/>
          <p:cNvSpPr/>
          <p:nvPr/>
        </p:nvSpPr>
        <p:spPr>
          <a:xfrm>
            <a:off x="3474720" y="1645920"/>
            <a:ext cx="548280" cy="548280"/>
          </a:xfrm>
          <a:prstGeom prst="ellipse">
            <a:avLst/>
          </a:prstGeom>
          <a:solidFill>
            <a:srgbClr val="a78b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0f1a"/>
                </a:solidFill>
                <a:latin typeface="Segoe UI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1"/>
          <p:cNvSpPr/>
          <p:nvPr/>
        </p:nvSpPr>
        <p:spPr>
          <a:xfrm>
            <a:off x="2880360" y="2377440"/>
            <a:ext cx="173700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78bfa"/>
                </a:solidFill>
                <a:latin typeface="Segoe UI"/>
              </a:rPr>
              <a:t>Character Sprites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2880360" y="2834640"/>
            <a:ext cx="173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Progress: 20-70%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13"/>
          <p:cNvSpPr/>
          <p:nvPr/>
        </p:nvSpPr>
        <p:spPr>
          <a:xfrm>
            <a:off x="2926080" y="3291840"/>
            <a:ext cx="164556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10 expressions per char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with consistency anchor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+ background removal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14"/>
          <p:cNvSpPr/>
          <p:nvPr/>
        </p:nvSpPr>
        <p:spPr>
          <a:xfrm>
            <a:off x="4800600" y="1828800"/>
            <a:ext cx="273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a78bfa"/>
                </a:solidFill>
                <a:latin typeface="Segoe UI"/>
              </a:rPr>
              <a:t>▶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ounded Rectangle 15"/>
          <p:cNvSpPr/>
          <p:nvPr/>
        </p:nvSpPr>
        <p:spPr>
          <a:xfrm>
            <a:off x="5029200" y="1371600"/>
            <a:ext cx="201132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Oval 16"/>
          <p:cNvSpPr/>
          <p:nvPr/>
        </p:nvSpPr>
        <p:spPr>
          <a:xfrm>
            <a:off x="5760720" y="1645920"/>
            <a:ext cx="548280" cy="548280"/>
          </a:xfrm>
          <a:prstGeom prst="ellipse">
            <a:avLst/>
          </a:prstGeom>
          <a:solidFill>
            <a:srgbClr val="f472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0f1a"/>
                </a:solidFill>
                <a:latin typeface="Segoe UI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7"/>
          <p:cNvSpPr/>
          <p:nvPr/>
        </p:nvSpPr>
        <p:spPr>
          <a:xfrm>
            <a:off x="5166360" y="2377440"/>
            <a:ext cx="173700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72b6"/>
                </a:solidFill>
                <a:latin typeface="Segoe UI"/>
              </a:rPr>
              <a:t>Scene Backgrounds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18"/>
          <p:cNvSpPr/>
          <p:nvPr/>
        </p:nvSpPr>
        <p:spPr>
          <a:xfrm>
            <a:off x="5166360" y="2834640"/>
            <a:ext cx="173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Progress: 70-90%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19"/>
          <p:cNvSpPr/>
          <p:nvPr/>
        </p:nvSpPr>
        <p:spPr>
          <a:xfrm>
            <a:off x="5212080" y="3291840"/>
            <a:ext cx="164556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High-res 16:9 backgrounds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for each initial scene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with detailed prompts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20"/>
          <p:cNvSpPr/>
          <p:nvPr/>
        </p:nvSpPr>
        <p:spPr>
          <a:xfrm>
            <a:off x="7086600" y="1828800"/>
            <a:ext cx="273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a78bfa"/>
                </a:solidFill>
                <a:latin typeface="Segoe UI"/>
              </a:rPr>
              <a:t>▶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21"/>
          <p:cNvSpPr/>
          <p:nvPr/>
        </p:nvSpPr>
        <p:spPr>
          <a:xfrm>
            <a:off x="7315200" y="1371600"/>
            <a:ext cx="201132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Oval 22"/>
          <p:cNvSpPr/>
          <p:nvPr/>
        </p:nvSpPr>
        <p:spPr>
          <a:xfrm>
            <a:off x="8046720" y="1645920"/>
            <a:ext cx="548280" cy="548280"/>
          </a:xfrm>
          <a:prstGeom prst="ellipse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0f1a"/>
                </a:solidFill>
                <a:latin typeface="Segoe UI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3"/>
          <p:cNvSpPr/>
          <p:nvPr/>
        </p:nvSpPr>
        <p:spPr>
          <a:xfrm>
            <a:off x="7452360" y="2377440"/>
            <a:ext cx="17370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Segoe UI"/>
              </a:rPr>
              <a:t>Script Building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24"/>
          <p:cNvSpPr/>
          <p:nvPr/>
        </p:nvSpPr>
        <p:spPr>
          <a:xfrm>
            <a:off x="7452360" y="2834640"/>
            <a:ext cx="173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Progress: 90-92%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25"/>
          <p:cNvSpPr/>
          <p:nvPr/>
        </p:nvSpPr>
        <p:spPr>
          <a:xfrm>
            <a:off x="7498080" y="3291840"/>
            <a:ext cx="164556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Converts AI output to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Monogatari-style DSL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with branching labels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26"/>
          <p:cNvSpPr/>
          <p:nvPr/>
        </p:nvSpPr>
        <p:spPr>
          <a:xfrm>
            <a:off x="9372600" y="1828800"/>
            <a:ext cx="273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a78bfa"/>
                </a:solidFill>
                <a:latin typeface="Segoe UI"/>
              </a:rPr>
              <a:t>▶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27"/>
          <p:cNvSpPr/>
          <p:nvPr/>
        </p:nvSpPr>
        <p:spPr>
          <a:xfrm>
            <a:off x="9601200" y="1371600"/>
            <a:ext cx="2011320" cy="4388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Oval 28"/>
          <p:cNvSpPr/>
          <p:nvPr/>
        </p:nvSpPr>
        <p:spPr>
          <a:xfrm>
            <a:off x="10332720" y="1645920"/>
            <a:ext cx="548280" cy="548280"/>
          </a:xfrm>
          <a:prstGeom prst="ellipse">
            <a:avLst/>
          </a:prstGeom>
          <a:solidFill>
            <a:srgbClr val="fb923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0f1a"/>
                </a:solidFill>
                <a:latin typeface="Segoe UI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9"/>
          <p:cNvSpPr/>
          <p:nvPr/>
        </p:nvSpPr>
        <p:spPr>
          <a:xfrm>
            <a:off x="9738360" y="2377440"/>
            <a:ext cx="17370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b923c"/>
                </a:solidFill>
                <a:latin typeface="Segoe UI"/>
              </a:rPr>
              <a:t>Ready to Play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30"/>
          <p:cNvSpPr/>
          <p:nvPr/>
        </p:nvSpPr>
        <p:spPr>
          <a:xfrm>
            <a:off x="9738360" y="2834640"/>
            <a:ext cx="173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Progress: 100%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31"/>
          <p:cNvSpPr/>
          <p:nvPr/>
        </p:nvSpPr>
        <p:spPr>
          <a:xfrm>
            <a:off x="9784080" y="3291840"/>
            <a:ext cx="1645560" cy="10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Session marked ready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Player enters the</a:t>
            </a:r>
            <a:br>
              <a:rPr sz="1300"/>
            </a:b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interactive game view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32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731520" y="365760"/>
            <a:ext cx="54860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User Journey &amp; Key Features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ounded Rectangle 3"/>
          <p:cNvSpPr/>
          <p:nvPr/>
        </p:nvSpPr>
        <p:spPr>
          <a:xfrm>
            <a:off x="731520" y="1371600"/>
            <a:ext cx="502884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1097280" y="1463040"/>
            <a:ext cx="4114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Segoe UI"/>
              </a:rPr>
              <a:t>USER JOURNEY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1097280" y="2103120"/>
            <a:ext cx="4388760" cy="357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Landing Page — Start new story or continue saved sessions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Setup Wizard — Configure genre, art style, setting,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protagonist, tone, and optional story premise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Loading Screen — Watch real-time AI generation progress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via Server-Sent Events (SSE)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Game View — Play the interactive visual novel with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dialogue, choices, and free-form text input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Sessions — Browse, manage, and resume saved games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ounded Rectangle 7"/>
          <p:cNvSpPr/>
          <p:nvPr/>
        </p:nvSpPr>
        <p:spPr>
          <a:xfrm>
            <a:off x="6400800" y="1371600"/>
            <a:ext cx="502884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ectangle 8"/>
          <p:cNvSpPr/>
          <p:nvPr/>
        </p:nvSpPr>
        <p:spPr>
          <a:xfrm>
            <a:off x="6400800" y="1554480"/>
            <a:ext cx="54360" cy="456840"/>
          </a:xfrm>
          <a:prstGeom prst="rect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6766560" y="1463040"/>
            <a:ext cx="4114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Segoe UI"/>
              </a:rPr>
              <a:t>KEY FEATURES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6766560" y="2103120"/>
            <a:ext cx="4388760" cy="33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Dynamic world-building with lore, rules &amp; history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Character sprites — 10 expressions per character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with automatic background removal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Free-form player input — type any action and the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AI adapts the story in real time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New characters &amp; scenes generated dynamically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during gameplay as the story evolves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400" spc="-1" strike="noStrike">
                <a:solidFill>
                  <a:srgbClr val="a0a0b0"/>
                </a:solidFill>
                <a:latin typeface="Segoe UI"/>
              </a:rPr>
              <a:t>Multiple art styles: Anime, Cartoon, Realistic, Fiction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ectangle 11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731520" y="365760"/>
            <a:ext cx="5486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API Design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ounded Rectangle 3"/>
          <p:cNvSpPr/>
          <p:nvPr/>
        </p:nvSpPr>
        <p:spPr>
          <a:xfrm>
            <a:off x="73152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109728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Segoe UI"/>
              </a:rPr>
              <a:t>SESSIONS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1005840" y="2194560"/>
            <a:ext cx="2102760" cy="24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POST  /api/sessions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 /api/sessions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 /api/sessions/:id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DELETE /api/sessions/:id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 /api/sessions/:id/characters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 /api/sessions/:id/scenes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ounded Rectangle 7"/>
          <p:cNvSpPr/>
          <p:nvPr/>
        </p:nvSpPr>
        <p:spPr>
          <a:xfrm>
            <a:off x="356616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ectangle 8"/>
          <p:cNvSpPr/>
          <p:nvPr/>
        </p:nvSpPr>
        <p:spPr>
          <a:xfrm>
            <a:off x="3566160" y="1554480"/>
            <a:ext cx="54360" cy="456840"/>
          </a:xfrm>
          <a:prstGeom prst="rect">
            <a:avLst/>
          </a:prstGeom>
          <a:solidFill>
            <a:srgbClr val="a78b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9"/>
          <p:cNvSpPr/>
          <p:nvPr/>
        </p:nvSpPr>
        <p:spPr>
          <a:xfrm>
            <a:off x="393192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a78bfa"/>
                </a:solidFill>
                <a:latin typeface="Segoe UI"/>
              </a:rPr>
              <a:t>GENERATION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3840480" y="2194560"/>
            <a:ext cx="210276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POST  /api/sessions/:id/generate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 /api/sessions/:id/generate/status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 </a:t>
            </a: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(SSE stream)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ounded Rectangle 11"/>
          <p:cNvSpPr/>
          <p:nvPr/>
        </p:nvSpPr>
        <p:spPr>
          <a:xfrm>
            <a:off x="640080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12"/>
          <p:cNvSpPr/>
          <p:nvPr/>
        </p:nvSpPr>
        <p:spPr>
          <a:xfrm>
            <a:off x="6400800" y="1554480"/>
            <a:ext cx="54360" cy="456840"/>
          </a:xfrm>
          <a:prstGeom prst="rect">
            <a:avLst/>
          </a:prstGeom>
          <a:solidFill>
            <a:srgbClr val="f472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13"/>
          <p:cNvSpPr/>
          <p:nvPr/>
        </p:nvSpPr>
        <p:spPr>
          <a:xfrm>
            <a:off x="676656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472b6"/>
                </a:solidFill>
                <a:latin typeface="Segoe UI"/>
              </a:rPr>
              <a:t>GAMEPLAY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4"/>
          <p:cNvSpPr/>
          <p:nvPr/>
        </p:nvSpPr>
        <p:spPr>
          <a:xfrm>
            <a:off x="6675120" y="2194560"/>
            <a:ext cx="210276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POST  /api/sessions/:id/choice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POST  /api/sessions/:id/free-input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 /api/sessions/:id/script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ounded Rectangle 15"/>
          <p:cNvSpPr/>
          <p:nvPr/>
        </p:nvSpPr>
        <p:spPr>
          <a:xfrm>
            <a:off x="9235440" y="1371600"/>
            <a:ext cx="255996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16"/>
          <p:cNvSpPr/>
          <p:nvPr/>
        </p:nvSpPr>
        <p:spPr>
          <a:xfrm>
            <a:off x="9235440" y="1554480"/>
            <a:ext cx="54360" cy="456840"/>
          </a:xfrm>
          <a:prstGeom prst="rect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17"/>
          <p:cNvSpPr/>
          <p:nvPr/>
        </p:nvSpPr>
        <p:spPr>
          <a:xfrm>
            <a:off x="9601200" y="1463040"/>
            <a:ext cx="20113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Segoe UI"/>
              </a:rPr>
              <a:t>ASSETS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8"/>
          <p:cNvSpPr/>
          <p:nvPr/>
        </p:nvSpPr>
        <p:spPr>
          <a:xfrm>
            <a:off x="9509760" y="2194560"/>
            <a:ext cx="2102760" cy="11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/api/assets/:sid/backgrounds/:id.png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GET  /api/assets/:sid/characters/:id/:expr.png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19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731520" y="365760"/>
            <a:ext cx="5486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Database Schema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ounded Rectangle 3"/>
          <p:cNvSpPr/>
          <p:nvPr/>
        </p:nvSpPr>
        <p:spPr>
          <a:xfrm>
            <a:off x="457200" y="1371600"/>
            <a:ext cx="201132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4"/>
          <p:cNvSpPr/>
          <p:nvPr/>
        </p:nvSpPr>
        <p:spPr>
          <a:xfrm>
            <a:off x="45720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731520" y="1463040"/>
            <a:ext cx="1645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60a5fa"/>
                </a:solidFill>
                <a:latin typeface="Segoe UI"/>
              </a:rPr>
              <a:t>sessions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731520" y="1920240"/>
            <a:ext cx="1645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Game session state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731520" y="2468880"/>
            <a:ext cx="155412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id, genre, art_style, setting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protagonist_name, personality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tone, premise, status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world_lore, plot_arc (JSON)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8"/>
          <p:cNvSpPr/>
          <p:nvPr/>
        </p:nvSpPr>
        <p:spPr>
          <a:xfrm>
            <a:off x="2743200" y="1371600"/>
            <a:ext cx="201132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9"/>
          <p:cNvSpPr/>
          <p:nvPr/>
        </p:nvSpPr>
        <p:spPr>
          <a:xfrm>
            <a:off x="2743200" y="1554480"/>
            <a:ext cx="54360" cy="456840"/>
          </a:xfrm>
          <a:prstGeom prst="rect">
            <a:avLst/>
          </a:prstGeom>
          <a:solidFill>
            <a:srgbClr val="a78b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3017520" y="1463040"/>
            <a:ext cx="1645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78bfa"/>
                </a:solidFill>
                <a:latin typeface="Segoe UI"/>
              </a:rPr>
              <a:t>characters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3017520" y="1920240"/>
            <a:ext cx="1645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Character profiles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12"/>
          <p:cNvSpPr/>
          <p:nvPr/>
        </p:nvSpPr>
        <p:spPr>
          <a:xfrm>
            <a:off x="3017520" y="2468880"/>
            <a:ext cx="1554120" cy="16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id, session_id, name, role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personality, appearance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backstory, speech_style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quirks, color_code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ounded Rectangle 13"/>
          <p:cNvSpPr/>
          <p:nvPr/>
        </p:nvSpPr>
        <p:spPr>
          <a:xfrm>
            <a:off x="5029200" y="1371600"/>
            <a:ext cx="201132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14"/>
          <p:cNvSpPr/>
          <p:nvPr/>
        </p:nvSpPr>
        <p:spPr>
          <a:xfrm>
            <a:off x="5029200" y="1554480"/>
            <a:ext cx="54360" cy="456840"/>
          </a:xfrm>
          <a:prstGeom prst="rect">
            <a:avLst/>
          </a:prstGeom>
          <a:solidFill>
            <a:srgbClr val="f472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5"/>
          <p:cNvSpPr/>
          <p:nvPr/>
        </p:nvSpPr>
        <p:spPr>
          <a:xfrm>
            <a:off x="5303520" y="1463040"/>
            <a:ext cx="1645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472b6"/>
                </a:solidFill>
                <a:latin typeface="Segoe UI"/>
              </a:rPr>
              <a:t>scenes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16"/>
          <p:cNvSpPr/>
          <p:nvPr/>
        </p:nvSpPr>
        <p:spPr>
          <a:xfrm>
            <a:off x="5303520" y="1920240"/>
            <a:ext cx="1645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Scene definitions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Box 17"/>
          <p:cNvSpPr/>
          <p:nvPr/>
        </p:nvSpPr>
        <p:spPr>
          <a:xfrm>
            <a:off x="5303520" y="2468880"/>
            <a:ext cx="1554120" cy="16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id, session_id, name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description (visual detail)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narrative_context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time_of_day, mood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ounded Rectangle 18"/>
          <p:cNvSpPr/>
          <p:nvPr/>
        </p:nvSpPr>
        <p:spPr>
          <a:xfrm>
            <a:off x="7315200" y="1371600"/>
            <a:ext cx="201132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ectangle 19"/>
          <p:cNvSpPr/>
          <p:nvPr/>
        </p:nvSpPr>
        <p:spPr>
          <a:xfrm>
            <a:off x="7315200" y="1554480"/>
            <a:ext cx="54360" cy="456840"/>
          </a:xfrm>
          <a:prstGeom prst="rect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20"/>
          <p:cNvSpPr/>
          <p:nvPr/>
        </p:nvSpPr>
        <p:spPr>
          <a:xfrm>
            <a:off x="7589520" y="1463040"/>
            <a:ext cx="1645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Segoe UI"/>
              </a:rPr>
              <a:t>script_labels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1"/>
          <p:cNvSpPr/>
          <p:nvPr/>
        </p:nvSpPr>
        <p:spPr>
          <a:xfrm>
            <a:off x="7589520" y="1920240"/>
            <a:ext cx="1645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Game scripts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22"/>
          <p:cNvSpPr/>
          <p:nvPr/>
        </p:nvSpPr>
        <p:spPr>
          <a:xfrm>
            <a:off x="7589520" y="2468880"/>
            <a:ext cx="1554120" cy="12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id, session_id, label_name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statements (JSON array)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Monogatari-style DSL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ounded Rectangle 23"/>
          <p:cNvSpPr/>
          <p:nvPr/>
        </p:nvSpPr>
        <p:spPr>
          <a:xfrm>
            <a:off x="9601200" y="1371600"/>
            <a:ext cx="2011320" cy="41144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ectangle 24"/>
          <p:cNvSpPr/>
          <p:nvPr/>
        </p:nvSpPr>
        <p:spPr>
          <a:xfrm>
            <a:off x="9601200" y="1554480"/>
            <a:ext cx="54360" cy="45684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25"/>
          <p:cNvSpPr/>
          <p:nvPr/>
        </p:nvSpPr>
        <p:spPr>
          <a:xfrm>
            <a:off x="9875520" y="1463040"/>
            <a:ext cx="16455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b923c"/>
                </a:solidFill>
                <a:latin typeface="Segoe UI"/>
              </a:rPr>
              <a:t>dialogue_history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26"/>
          <p:cNvSpPr/>
          <p:nvPr/>
        </p:nvSpPr>
        <p:spPr>
          <a:xfrm>
            <a:off x="9875520" y="1920240"/>
            <a:ext cx="1645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0a0b0"/>
                </a:solidFill>
                <a:latin typeface="Segoe UI"/>
              </a:rPr>
              <a:t>AI conversation log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27"/>
          <p:cNvSpPr/>
          <p:nvPr/>
        </p:nvSpPr>
        <p:spPr>
          <a:xfrm>
            <a:off x="9875520" y="2468880"/>
            <a:ext cx="1554120" cy="12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id, session_id, role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content, timestamp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Indexed for fast lookup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Rectangle 28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731520" y="365760"/>
            <a:ext cx="7314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AI Integration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3"/>
          <p:cNvSpPr/>
          <p:nvPr/>
        </p:nvSpPr>
        <p:spPr>
          <a:xfrm>
            <a:off x="731520" y="1371600"/>
            <a:ext cx="338292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1097280" y="14630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0a5fa"/>
                </a:solidFill>
                <a:latin typeface="Segoe UI"/>
              </a:rPr>
              <a:t>STORY GENERATION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1097280" y="1920240"/>
            <a:ext cx="2742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0a0b0"/>
                </a:solidFill>
                <a:latin typeface="Segoe UI"/>
              </a:rPr>
              <a:t>Gemini 2.5 Pro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1097280" y="2377440"/>
            <a:ext cx="2742840" cy="25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Structured JSON output with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strict schema validation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3-5 unique characters with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detailed visual descriptions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5 initial scenes with lighting,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weather &amp; atmosphere details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Opening script with 20-40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statements &amp; choice points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60a5fa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World lore, rules &amp; history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ounded Rectangle 8"/>
          <p:cNvSpPr/>
          <p:nvPr/>
        </p:nvSpPr>
        <p:spPr>
          <a:xfrm>
            <a:off x="4389120" y="1371600"/>
            <a:ext cx="338292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ectangle 9"/>
          <p:cNvSpPr/>
          <p:nvPr/>
        </p:nvSpPr>
        <p:spPr>
          <a:xfrm>
            <a:off x="4389120" y="1554480"/>
            <a:ext cx="54360" cy="456840"/>
          </a:xfrm>
          <a:prstGeom prst="rect">
            <a:avLst/>
          </a:prstGeom>
          <a:solidFill>
            <a:srgbClr val="f472b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10"/>
          <p:cNvSpPr/>
          <p:nvPr/>
        </p:nvSpPr>
        <p:spPr>
          <a:xfrm>
            <a:off x="4754880" y="14630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472b6"/>
                </a:solidFill>
                <a:latin typeface="Segoe UI"/>
              </a:rPr>
              <a:t>IMAGE GENERATION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4754880" y="1920240"/>
            <a:ext cx="2742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0a0b0"/>
                </a:solidFill>
                <a:latin typeface="Segoe UI"/>
              </a:rPr>
              <a:t>Gemini 2.5 Flash Image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4754880" y="2377440"/>
            <a:ext cx="2742840" cy="28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10 expressions per character: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neutral, happy, sad, angry, etc.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Neutral sprite as consistency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anchor for all other expressions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Automatic background removal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for transparent sprite cutouts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Scene backgrounds at 16:9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with rich visual prompts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f472b6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Art style adherence across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all generated assets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ounded Rectangle 13"/>
          <p:cNvSpPr/>
          <p:nvPr/>
        </p:nvSpPr>
        <p:spPr>
          <a:xfrm>
            <a:off x="8046720" y="1371600"/>
            <a:ext cx="338292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ectangle 14"/>
          <p:cNvSpPr/>
          <p:nvPr/>
        </p:nvSpPr>
        <p:spPr>
          <a:xfrm>
            <a:off x="8046720" y="1554480"/>
            <a:ext cx="54360" cy="456840"/>
          </a:xfrm>
          <a:prstGeom prst="rect">
            <a:avLst/>
          </a:prstGeom>
          <a:solidFill>
            <a:srgbClr val="4ade8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5"/>
          <p:cNvSpPr/>
          <p:nvPr/>
        </p:nvSpPr>
        <p:spPr>
          <a:xfrm>
            <a:off x="8412480" y="14630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de80"/>
                </a:solidFill>
                <a:latin typeface="Segoe UI"/>
              </a:rPr>
              <a:t>RUNTIME DIALOGUE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16"/>
          <p:cNvSpPr/>
          <p:nvPr/>
        </p:nvSpPr>
        <p:spPr>
          <a:xfrm>
            <a:off x="8412480" y="1920240"/>
            <a:ext cx="2742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0a0b0"/>
                </a:solidFill>
                <a:latin typeface="Segoe UI"/>
              </a:rPr>
              <a:t>Gemini 2.5 Flash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17"/>
          <p:cNvSpPr/>
          <p:nvPr/>
        </p:nvSpPr>
        <p:spPr>
          <a:xfrm>
            <a:off x="8412480" y="2377440"/>
            <a:ext cx="2742840" cy="30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Full context: character profiles,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world lore &amp; plot arc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Last 40 messages as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conversation history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Structured JSON responses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with next statements &amp; choices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Dynamic character introduction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with on-the-fly sprite generation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4ade80"/>
                </a:solidFill>
                <a:latin typeface="Segoe UI"/>
              </a:rPr>
              <a:t>▸ </a:t>
            </a: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Scene transitions &amp; new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a0a0b0"/>
                </a:solidFill>
                <a:latin typeface="Segoe UI"/>
              </a:rPr>
              <a:t>background generation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ectangle 18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731520" y="365760"/>
            <a:ext cx="5486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Segoe UI"/>
              </a:rPr>
              <a:t>Project Structure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Rounded Rectangle 3"/>
          <p:cNvSpPr/>
          <p:nvPr/>
        </p:nvSpPr>
        <p:spPr>
          <a:xfrm>
            <a:off x="731520" y="1371600"/>
            <a:ext cx="502884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4"/>
          <p:cNvSpPr/>
          <p:nvPr/>
        </p:nvSpPr>
        <p:spPr>
          <a:xfrm>
            <a:off x="731520" y="1554480"/>
            <a:ext cx="54360" cy="456840"/>
          </a:xfrm>
          <a:prstGeom prst="rect">
            <a:avLst/>
          </a:prstGeom>
          <a:solidFill>
            <a:srgbClr val="60a5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1097280" y="1463040"/>
            <a:ext cx="4114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Segoe UI"/>
              </a:rPr>
              <a:t>CLIENT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1097280" y="2103120"/>
            <a:ext cx="4388760" cy="31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client/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src/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main.js            Entry point &amp; router setup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views/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landing.js       Home page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setup-wizard.js  Story configuration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loading.js       Generation progress (SSE)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game.js          Visual novel player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sessions.js      Session management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services/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api.js           HTTP + SSE client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game-bridge.js   Game engine core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utils/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router.js        Hash-based SPA router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styles/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main.css         Dark theme design system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ounded Rectangle 7"/>
          <p:cNvSpPr/>
          <p:nvPr/>
        </p:nvSpPr>
        <p:spPr>
          <a:xfrm>
            <a:off x="6400800" y="1371600"/>
            <a:ext cx="5028840" cy="47545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8"/>
          <p:cNvSpPr/>
          <p:nvPr/>
        </p:nvSpPr>
        <p:spPr>
          <a:xfrm>
            <a:off x="6400800" y="1554480"/>
            <a:ext cx="54360" cy="456840"/>
          </a:xfrm>
          <a:prstGeom prst="rect">
            <a:avLst/>
          </a:prstGeom>
          <a:solidFill>
            <a:srgbClr val="a78b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9"/>
          <p:cNvSpPr/>
          <p:nvPr/>
        </p:nvSpPr>
        <p:spPr>
          <a:xfrm>
            <a:off x="6766560" y="1463040"/>
            <a:ext cx="4114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a78bfa"/>
                </a:solidFill>
                <a:latin typeface="Segoe UI"/>
              </a:rPr>
              <a:t>SERVER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10"/>
          <p:cNvSpPr/>
          <p:nvPr/>
        </p:nvSpPr>
        <p:spPr>
          <a:xfrm>
            <a:off x="6766560" y="2103120"/>
            <a:ext cx="4388760" cy="37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server/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src/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index.js           Express app setup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config.js          Environment config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db/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database.js      sql.js wrapper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queries/         Query builders (4 modules)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routes/            API endpoint definitions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controllers/       Request handlers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services/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sessionService   Session CRUD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scriptBuilder    Monogatari DSL builder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assetManager     File I/O for assets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ai/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  geminiClient   API client wrapper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  storyGenerator World &amp; story creation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  dialogueEngine Runtime AI dialogue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  imageGenerator Sprites &amp; backgrounds</a:t>
            </a:r>
            <a:br>
              <a:rPr sz="1100"/>
            </a:br>
            <a:r>
              <a:rPr b="0" lang="en-US" sz="1100" spc="-1" strike="noStrike">
                <a:solidFill>
                  <a:srgbClr val="a0a0b0"/>
                </a:solidFill>
                <a:latin typeface="Consolas"/>
              </a:rPr>
              <a:t>        prompts/       AI prompt templates (4)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 11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1371600" y="1828800"/>
            <a:ext cx="914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pc="-1" strike="noStrike">
                <a:solidFill>
                  <a:srgbClr val="a78bfa"/>
                </a:solidFill>
                <a:latin typeface="Segoe UI"/>
              </a:rPr>
              <a:t>Thank You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 3"/>
          <p:cNvSpPr/>
          <p:nvPr/>
        </p:nvSpPr>
        <p:spPr>
          <a:xfrm>
            <a:off x="5029200" y="3017520"/>
            <a:ext cx="2102760" cy="36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4"/>
          <p:cNvSpPr/>
          <p:nvPr/>
        </p:nvSpPr>
        <p:spPr>
          <a:xfrm>
            <a:off x="1828800" y="3474720"/>
            <a:ext cx="82292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Segoe UI"/>
              </a:rPr>
              <a:t>Storyplex — Where AI Meets Interactive Storytelling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1828800" y="4389120"/>
            <a:ext cx="8229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a0a0b0"/>
                </a:solidFill>
                <a:latin typeface="Segoe UI"/>
              </a:rPr>
              <a:t>Questions &amp; Discussion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ectangle 6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2026-03-03T11:34:48Z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